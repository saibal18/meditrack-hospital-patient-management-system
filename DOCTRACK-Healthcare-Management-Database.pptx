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Medium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evaluators and viva committee. This presentation introduces MediTrack, a structured relational database project designed to streamline clinical healthcare records using MySQL.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MediTrack is centered on five core operational entities. Rather than treating patient visits, treatments, and accounting as separate paperwork, the system structures them as interconnected records in a single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operational vulnerabilities highlight the explicit need for MediTrack. We emphasize these as design motivations rather than production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objectives focus directly on database design standards: schema normalization, relational keys, elimination of anomalies, and flexible queryability.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ensure academic transparency during viva questioning: this work is strictly an RDBMS implementation using MySQL and Workbench, without unverified full-stack applications.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exact attribute catalog across our five tables. Notice that APPOINTMENTS serves as the core associative hub connecting patients and doctors.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cardinality: a patient or doctor participates in multiple appointments (1:N). Prescriptions can have multiple medications per visit (1:N). Billing is 1:0..1 through the UNIQUE constraint.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key domains: Patient_IDs run 101 to 105; Doctor_IDs run 201 to 205. These exact keys will be referenced in our transaction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row in APPOINTMENTS enforces foreign key checks. Notice Appointment_IDs 1001 to 1005; these exact IDs are the target references for our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the presentation by noting how referential integrity is sustained: Prescription items link directly to completed appointments, and billing respects the 1:0..1 constraint.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21407" cy="6858000"/>
          </a:xfrm>
          <a:prstGeom prst="rect">
            <a:avLst/>
          </a:prstGeom>
          <a:solidFill>
            <a:srgbClr val="12304A"/>
          </a:solidFill>
          <a:ln/>
        </p:spPr>
      </p:sp>
      <p:sp>
        <p:nvSpPr>
          <p:cNvPr id="3" name="Text 1"/>
          <p:cNvSpPr/>
          <p:nvPr/>
        </p:nvSpPr>
        <p:spPr>
          <a:xfrm>
            <a:off x="558786" y="879931"/>
            <a:ext cx="7162621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84" kern="100" dirty="0">
                <a:solidFill>
                  <a:srgbClr val="7FD1C7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ACADEMIC DBMS PROJECT SUBMISSION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58786" y="1233075"/>
            <a:ext cx="6603835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DOCTRACK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58786" y="2030115"/>
            <a:ext cx="2179186" cy="38100"/>
          </a:xfrm>
          <a:prstGeom prst="roundRect">
            <a:avLst>
              <a:gd name="adj" fmla="val 49999"/>
            </a:avLst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558786" y="2490172"/>
            <a:ext cx="6603835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7FD1C7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Healthcare Management Database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58786" y="3040955"/>
            <a:ext cx="716262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 Relational Database System Architecture Implemented in MySQL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6582" y="5797550"/>
            <a:ext cx="624824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7FD1C7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Submission Date</a:t>
            </a:r>
            <a:endParaRPr lang="en-US" sz="1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October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E8F6F4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2414786"/>
            <a:ext cx="3809905" cy="20284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258127"/>
            <a:ext cx="680703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84" kern="100" dirty="0">
                <a:solidFill>
                  <a:srgbClr val="007F8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SYSTEM ARCHITECTURE OVERVIEW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7987" y="604403"/>
            <a:ext cx="6299042" cy="101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One relational database for healthcare records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7987" y="1789331"/>
            <a:ext cx="6299042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MediTrack replaces disconnected files with a normalized relational schema, connecting clinical workflows with referential consistency.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7987" y="2821781"/>
            <a:ext cx="2997125" cy="2603401"/>
          </a:xfrm>
          <a:prstGeom prst="rect">
            <a:avLst/>
          </a:prstGeom>
          <a:solidFill>
            <a:srgbClr val="E2F3F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582" y="3050381"/>
            <a:ext cx="406390" cy="40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6582" y="3593624"/>
            <a:ext cx="2539936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Project Type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6582" y="4063821"/>
            <a:ext cx="2539936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Relational Database Management System (RDBMS), designed for ANSI SQL compliance.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09905" y="2821781"/>
            <a:ext cx="2997125" cy="2603401"/>
          </a:xfrm>
          <a:prstGeom prst="rect">
            <a:avLst/>
          </a:prstGeom>
          <a:solidFill>
            <a:srgbClr val="E2F3F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499" y="3050381"/>
            <a:ext cx="406390" cy="406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38499" y="3593624"/>
            <a:ext cx="2539936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Domain Scope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038499" y="4063821"/>
            <a:ext cx="2539936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Healthcare management: consultations, care and settlement.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7987" y="5614412"/>
            <a:ext cx="629904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Records organized: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Patients, doctors, appointments, prescriptions and billing.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7987" y="6445250"/>
            <a:ext cx="680703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8334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MediTrack DBMS Viva Defense · Domain: Hospital Information Systems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89061"/>
            <a:ext cx="7162621" cy="221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81" kern="100" dirty="0">
                <a:solidFill>
                  <a:srgbClr val="007F8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PROBLEM STATEMENT &amp; MOTIVATION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58786" y="817038"/>
            <a:ext cx="6603835" cy="486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5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Why organize these records?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558786" y="1458320"/>
            <a:ext cx="6603835" cy="80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Healthcare facilities handle high volumes of concurrent operational data. Without a normalized relational model, facilities encounter critical workflow friction.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87380" y="2603921"/>
            <a:ext cx="6146646" cy="3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8334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Scattered &amp; Duplicated Demographics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87380" y="3062811"/>
            <a:ext cx="6146646" cy="46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Patient and physician particulars replicated across clinic notebooks lead to update anomalies and conflicting contact entries.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87380" y="4036144"/>
            <a:ext cx="6146646" cy="3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8334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Fragmented Consultation Histories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87380" y="4495033"/>
            <a:ext cx="6146646" cy="46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Searching through non-relational logs makes retrieving past visits or doctor-patient appointment trails slow and error-prone.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7380" y="5468366"/>
            <a:ext cx="6146646" cy="3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18334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Disconnected Invoicing &amp; Prescriptions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87380" y="5927256"/>
            <a:ext cx="6146646" cy="46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Financial settlements frequently decouple from clinical visit encounters, risking untracked balances and unlinked prescriptions.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58786" y="6742588"/>
            <a:ext cx="7162621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8334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Note: Presenting core project motivations and structural challenges, not post-deployment metrics.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86727"/>
            <a:ext cx="11632909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84" kern="100" dirty="0">
                <a:solidFill>
                  <a:srgbClr val="007F8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DESIGN TARGETS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58786" y="833003"/>
            <a:ext cx="11074123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Objectives of MediTrack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58786" y="1511221"/>
            <a:ext cx="11074123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The primary aim is to establish a rigorous relational foundation supporting healthcare record accuracy and retrieval.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1" y="2557661"/>
            <a:ext cx="40639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1981" y="3100903"/>
            <a:ext cx="2133547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Structured Entities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61981" y="3901281"/>
            <a:ext cx="2133547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Organize distinct medical domains into logically segregated, normalized tables.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710" y="2557661"/>
            <a:ext cx="406390" cy="406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06710" y="3100903"/>
            <a:ext cx="2133547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Referential Integrity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3606710" y="3901281"/>
            <a:ext cx="2133547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Enforce strict primary key (PK) and foreign key (FK) constraints across all dependencies.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439" y="2557661"/>
            <a:ext cx="406390" cy="406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51439" y="3100903"/>
            <a:ext cx="2133547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Redundancy Reduction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6451439" y="3901281"/>
            <a:ext cx="2133547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Eliminate repetitive attribute duplication while preserving atomic data integrity.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167" y="2557661"/>
            <a:ext cx="406390" cy="4064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296167" y="3100903"/>
            <a:ext cx="2133547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SQL Retrieval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9296167" y="3566021"/>
            <a:ext cx="2133547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Facilitate targeted data queries via standard SQL joins, filters, and aggregations.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558786" y="5945188"/>
            <a:ext cx="11074123" cy="31651"/>
          </a:xfrm>
          <a:prstGeom prst="roundRect">
            <a:avLst>
              <a:gd name="adj" fmla="val 49998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8" name="Text 12"/>
          <p:cNvSpPr/>
          <p:nvPr/>
        </p:nvSpPr>
        <p:spPr>
          <a:xfrm>
            <a:off x="558786" y="6216650"/>
            <a:ext cx="1163290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2304A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MediTrack Relational Database Engineering · Project Milestones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47027"/>
            <a:ext cx="11632909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84" kern="100" dirty="0">
                <a:solidFill>
                  <a:srgbClr val="007F8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ENGINEERING STACK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58786" y="693303"/>
            <a:ext cx="11074123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Technology and design tools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58786" y="1371521"/>
            <a:ext cx="1163290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MediTrack is focused purely on relational database modeling and engine-level schema execution.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58786" y="1879501"/>
            <a:ext cx="3488146" cy="3380184"/>
          </a:xfrm>
          <a:prstGeom prst="roundRect">
            <a:avLst>
              <a:gd name="adj" fmla="val 8115"/>
            </a:avLst>
          </a:prstGeom>
          <a:solidFill>
            <a:srgbClr val="071E4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2184301"/>
            <a:ext cx="406390" cy="40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2733258"/>
            <a:ext cx="2980159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MySQL DBMS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12780" y="3284041"/>
            <a:ext cx="2980159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Relational database engine executing ANSI DDL/DML scripts, constraint validations, and indexed relation queries.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51725" y="1879501"/>
            <a:ext cx="3488146" cy="3380184"/>
          </a:xfrm>
          <a:prstGeom prst="roundRect">
            <a:avLst>
              <a:gd name="adj" fmla="val 8115"/>
            </a:avLst>
          </a:prstGeom>
          <a:solidFill>
            <a:srgbClr val="071E4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718" y="2184301"/>
            <a:ext cx="406390" cy="406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05718" y="2733258"/>
            <a:ext cx="2980159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MySQL Workbench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4605718" y="3710682"/>
            <a:ext cx="2980159" cy="124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Visual database design environment utilized for forward-engineering scripts, SQL debugging, and interactive execution.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144663" y="1879501"/>
            <a:ext cx="3488246" cy="3380184"/>
          </a:xfrm>
          <a:prstGeom prst="roundRect">
            <a:avLst>
              <a:gd name="adj" fmla="val 8115"/>
            </a:avLst>
          </a:prstGeom>
          <a:solidFill>
            <a:srgbClr val="071E4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657" y="2184301"/>
            <a:ext cx="406390" cy="406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98657" y="2733258"/>
            <a:ext cx="2980258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ER Modeling</a:t>
            </a:r>
            <a:endParaRPr lang="en-US" sz="2800" dirty="0"/>
          </a:p>
        </p:txBody>
      </p:sp>
      <p:sp>
        <p:nvSpPr>
          <p:cNvPr id="16" name="Text 11"/>
          <p:cNvSpPr/>
          <p:nvPr/>
        </p:nvSpPr>
        <p:spPr>
          <a:xfrm>
            <a:off x="8398657" y="3284041"/>
            <a:ext cx="2980258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Conceptual entity-relationship mapping defining entity sets, attributes, key constraints, and relational cardinalities.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58786" y="5509419"/>
            <a:ext cx="11074123" cy="1005681"/>
          </a:xfrm>
          <a:prstGeom prst="roundRect">
            <a:avLst>
              <a:gd name="adj" fmla="val 8486"/>
            </a:avLst>
          </a:prstGeom>
          <a:solidFill>
            <a:srgbClr val="CCFC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1" y="5805289"/>
            <a:ext cx="203195" cy="1625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68371" y="5763419"/>
            <a:ext cx="1026134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Scope Boundary Note: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This academic project implements the relational database schema and SQL queries exclusively. No web/mobile frontend application or backend application server was built.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44559"/>
            <a:ext cx="11632909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84" kern="100" dirty="0">
                <a:solidFill>
                  <a:srgbClr val="007F8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RELATIONAL SCHEMA SPECIFICATION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58786" y="790835"/>
            <a:ext cx="11074123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Five tables form the schema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58786" y="1469053"/>
            <a:ext cx="1163290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The MediTrack architecture standardizes healthcare data across five modular relations.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1981" y="2120225"/>
            <a:ext cx="3183354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PATIENTS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1981" y="2585343"/>
            <a:ext cx="3183354" cy="1741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Patient_ID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[PK]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Name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Age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Gender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Contact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Email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Address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04121" y="2120225"/>
            <a:ext cx="3183354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DOCTORS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04121" y="2585343"/>
            <a:ext cx="3183354" cy="124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Doctor_ID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[PK]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Name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Specialization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Fee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Experience_Years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04121" y="4039096"/>
            <a:ext cx="338654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8334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Clinical Specialist Profile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46261" y="2120225"/>
            <a:ext cx="3183453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APPOINTMENTS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46261" y="2585343"/>
            <a:ext cx="3183453" cy="124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Appointment_ID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[PK]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Patient_ID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[FK]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Doctor_ID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[FK]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Appointment_Date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Status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1981" y="4826020"/>
            <a:ext cx="5054474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PRESCRIPTIONS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1981" y="5291137"/>
            <a:ext cx="505447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Prescription_ID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[PK]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·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Appointment_ID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[FK]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· Medicine · Dosage · Duration_Days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1981" y="5915819"/>
            <a:ext cx="505447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8334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Supports multiple prescribed medicines linked to a single clinical appointment encounter.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75241" y="4826020"/>
            <a:ext cx="5054474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BILLING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75241" y="5291137"/>
            <a:ext cx="505447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Bill_ID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7F86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[PK]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·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Appointment_ID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[FK, UNIQUE]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· Amount · Payment_Method · Payment_Status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75241" y="5915819"/>
            <a:ext cx="505447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8334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Enforces at most one billing record per appointment encounter via UNIQUE constraint.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938966"/>
            <a:ext cx="11734506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84" kern="100" dirty="0">
                <a:solidFill>
                  <a:srgbClr val="007F8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ENTITY RELATIONSHIP DIAGRAM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189" y="1285242"/>
            <a:ext cx="11277318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Entity relationships connect the tables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189" y="1958380"/>
            <a:ext cx="1173450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Logical cardinality and key mappings across the MediTrack database model.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334220"/>
            <a:ext cx="11277318" cy="32396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189" y="5764411"/>
            <a:ext cx="11734506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Integrity Rule:</a:t>
            </a:r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2304A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 UNIQUE on BILLING.Appointment_ID prevents duplicate bills for the same visit while permitting completed or scheduled appointments without an immediate bill.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10527"/>
            <a:ext cx="11683708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84" kern="100" dirty="0">
                <a:solidFill>
                  <a:srgbClr val="007F8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DATABASE POPULATION · FICTIONAL DEMONSTRATION DATA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7987" y="756803"/>
            <a:ext cx="11175720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Fictional sample data: patients and doctors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7987" y="1427083"/>
            <a:ext cx="11175720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7F8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PATIENTS Table (5 Records)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1892201"/>
          <a:ext cx="11175721" cy="914400"/>
        </p:xfrm>
        <a:graphic>
          <a:graphicData uri="http://schemas.openxmlformats.org/drawingml/2006/table">
            <a:tbl>
              <a:tblPr/>
              <a:tblGrid>
                <a:gridCol w="1676358"/>
                <a:gridCol w="2905648"/>
                <a:gridCol w="1117572"/>
                <a:gridCol w="1676358"/>
                <a:gridCol w="3799785"/>
              </a:tblGrid>
              <a:tr h="347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Patient_ID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Name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Age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Gender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Contact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Aarav Sen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29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Male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9000000101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Mira Das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34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Female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9000000102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103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Rohan Roy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45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Male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9000000103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Sana Ali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Female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9000000104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105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Priya Ghosh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38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Female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9000000105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7987" y="4332704"/>
            <a:ext cx="11175720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7F8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DOCTORS Table (5 Records)</a:t>
            </a:r>
            <a:endParaRPr lang="en-US" sz="2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4797822"/>
          <a:ext cx="11175721" cy="914400"/>
        </p:xfrm>
        <a:graphic>
          <a:graphicData uri="http://schemas.openxmlformats.org/drawingml/2006/table">
            <a:tbl>
              <a:tblPr/>
              <a:tblGrid>
                <a:gridCol w="1676358"/>
                <a:gridCol w="2793930"/>
                <a:gridCol w="2570396"/>
                <a:gridCol w="1564541"/>
                <a:gridCol w="2570495"/>
              </a:tblGrid>
              <a:tr h="347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Doctor_ID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Name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Specialization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Fee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Experience_Years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Dr. N. Bose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Cardiology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800.00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Dr. P. Ghosh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Dermatology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600.00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8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203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Dr. R. Sen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Pediatrics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500.00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6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Dr. A. Mukherjee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Neurology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1000.00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15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205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Dr. S. Chatterjee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Orthopedics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700.00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198" marR="76198" marT="25399" marB="2539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61327"/>
            <a:ext cx="11632909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84" kern="100" dirty="0">
                <a:solidFill>
                  <a:srgbClr val="007F8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TRANSACTION LINKAGE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58786" y="807603"/>
            <a:ext cx="11074123" cy="101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Fictional appointments link patients and doctors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58786" y="1992531"/>
            <a:ext cx="1163290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APPOINTMENTS resolves the many-to-many relationship between patients and healthcare providers.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86" y="2456061"/>
          <a:ext cx="11074123" cy="914400"/>
        </p:xfrm>
        <a:graphic>
          <a:graphicData uri="http://schemas.openxmlformats.org/drawingml/2006/table">
            <a:tbl>
              <a:tblPr/>
              <a:tblGrid>
                <a:gridCol w="1993263"/>
                <a:gridCol w="2214825"/>
                <a:gridCol w="2657750"/>
                <a:gridCol w="2325506"/>
                <a:gridCol w="1882780"/>
              </a:tblGrid>
              <a:tr h="7441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Appointment_ID [PK]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Patient_ID [FK]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Doctor_ID [FK]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Appointment_Date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Status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101 (Aarav Sen)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201 (Dr. N. Bose)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2026-10-20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07F8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Completed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102 (Mira Das)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202 (Dr. P. Ghosh)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2026-10-21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07F8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Completed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1003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103 (Rohan Roy)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201 (Dr. N. Bose)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2026-10-22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Scheduled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104 (Sana Ali)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203 (Dr. R. Sen)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2026-10-23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07F8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Completed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9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1005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105 (Priya Ghosh)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204 (Dr. A. Mukherjee)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2026-10-24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Scheduled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58786" y="5700534"/>
            <a:ext cx="11074123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183348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Referential integrity: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Patient_IDs exist in PATIENTS (101–105) and Doctor_IDs in DOCTORS (201–204); no orphaned visits.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58786" y="6454874"/>
            <a:ext cx="11632909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83348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Fictional demonstration data · Appointment encounters are the foreign key target for prescription items and billing statements.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85127"/>
            <a:ext cx="11683708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84" kern="100" dirty="0">
                <a:solidFill>
                  <a:srgbClr val="007F8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DOWNSTREAM CLINICAL &amp; FINANCIAL LOGS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7987" y="731403"/>
            <a:ext cx="11175720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Prescriptions and bills reference appointments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7987" y="1404541"/>
            <a:ext cx="1168370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83348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Demonstrating referential integrity: every record references valid Appointment_IDs (1001–1005).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87" y="1796574"/>
            <a:ext cx="5435464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7F86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PRESCRIPTIONS Table</a:t>
            </a:r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7F8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6495C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(1 : N)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2261691"/>
          <a:ext cx="5435464" cy="914400"/>
        </p:xfrm>
        <a:graphic>
          <a:graphicData uri="http://schemas.openxmlformats.org/drawingml/2006/table">
            <a:tbl>
              <a:tblPr/>
              <a:tblGrid>
                <a:gridCol w="874910"/>
                <a:gridCol w="1144251"/>
                <a:gridCol w="1547963"/>
                <a:gridCol w="1068492"/>
                <a:gridCol w="799849"/>
              </a:tblGrid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Rx_ID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Appt_ID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Medicine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Dosage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Days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501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Atorvastatin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 mg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30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502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Aspirin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75 mg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30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503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Cetirizine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 mg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7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9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504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Amoxicillin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250 mg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5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7987" y="4699794"/>
            <a:ext cx="543546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6495C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Appointment 1001 demonstrates multiple medication items (1 : N relation).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8244" y="1796574"/>
            <a:ext cx="5435464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7F86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BILLING Table</a:t>
            </a:r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7F86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6495C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(1 : 0..1 UNIQUE)</a:t>
            </a:r>
            <a:endParaRPr lang="en-US" sz="2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2261691"/>
          <a:ext cx="5435464" cy="914400"/>
        </p:xfrm>
        <a:graphic>
          <a:graphicData uri="http://schemas.openxmlformats.org/drawingml/2006/table">
            <a:tbl>
              <a:tblPr/>
              <a:tblGrid>
                <a:gridCol w="976486"/>
                <a:gridCol w="1192497"/>
                <a:gridCol w="1097599"/>
                <a:gridCol w="1191699"/>
                <a:gridCol w="977183"/>
              </a:tblGrid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Bill_ID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Appt_ID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Amount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Method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30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Status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801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800.00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UPI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Paid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802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600.00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Card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Paid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69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803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1004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500.00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Cash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833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0"/>
                        </a:rPr>
                        <a:t>Paid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248244" y="4240113"/>
            <a:ext cx="543546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6495C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No duplicate Appointment_IDs exist. Appointments 1003 &amp; 1005 are scheduled and carry zero bills.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07987" y="6046787"/>
            <a:ext cx="11175621" cy="31651"/>
          </a:xfrm>
          <a:prstGeom prst="roundRect">
            <a:avLst>
              <a:gd name="adj" fmla="val 49998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507987" y="6318250"/>
            <a:ext cx="1168370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16495C"/>
                </a:solidFill>
                <a:latin typeface="Inter Medium" pitchFamily="34" charset="0"/>
                <a:ea typeface="Inter Medium" pitchFamily="34" charset="-122"/>
                <a:cs typeface="Inter Medium" pitchFamily="34" charset="0"/>
              </a:rPr>
              <a:t>MediTrack DBMS Academic Viva Presentation · All sample data fictional · Pure SQL and Relational Modeling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2026-10-29T07:57:58Z</dcterms:created>
  <dcterms:modified xsi:type="dcterms:W3CDTF">2026-10-29T07:57:58Z</dcterms:modified>
</cp:coreProperties>
</file>